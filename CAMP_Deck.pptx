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60"/>
              </a:lnSpc>
              <a:spcAft>
                <a:spcPts val="0"/>
              </a:spcAft>
              <a:defRPr sz="7200" b="1">
                <a:solidFill>
                  <a:srgbClr val="38BDF8"/>
                </a:solidFill>
                <a:latin typeface="Calibri"/>
              </a:defRPr>
            </a:pPr>
            <a:r>
              <a:t>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Calm Productivity</a:t>
            </a:r>
          </a:p>
          <a:p>
            <a:pPr algn="l">
              <a:lnSpc>
                <a:spcPts val="1560"/>
              </a:lnSpc>
              <a:spcBef>
                <a:spcPts val="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0"/>
              </a:spcBef>
              <a:defRPr sz="2000" b="0">
                <a:solidFill>
                  <a:srgbClr val="94A3B8"/>
                </a:solidFill>
                <a:latin typeface="Calibri"/>
              </a:defRPr>
            </a:pPr>
            <a:r>
              <a:t>Don't manage your tasks. Let your tasks manage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OTTD — One Thing To 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We're drowning in productivity tools.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600"/>
              </a:lnSpc>
              <a:spcBef>
                <a:spcPts val="800"/>
              </a:spcBef>
              <a:defRPr sz="2000" b="0">
                <a:solidFill>
                  <a:srgbClr val="CBD5E1"/>
                </a:solidFill>
                <a:latin typeface="Calibri"/>
              </a:defRPr>
            </a:pPr>
            <a:r>
              <a:t>•  20 tasks on the to-do list. Which one now?</a:t>
            </a:r>
          </a:p>
          <a:p>
            <a:pPr algn="l">
              <a:lnSpc>
                <a:spcPts val="2600"/>
              </a:lnSpc>
              <a:spcBef>
                <a:spcPts val="800"/>
              </a:spcBef>
              <a:defRPr sz="2000" b="0">
                <a:solidFill>
                  <a:srgbClr val="CBD5E1"/>
                </a:solidFill>
                <a:latin typeface="Calibri"/>
              </a:defRPr>
            </a:pPr>
            <a:r>
              <a:t>•  Calendar, reminders, notes — scattered everywhere</a:t>
            </a:r>
          </a:p>
          <a:p>
            <a:pPr algn="l">
              <a:lnSpc>
                <a:spcPts val="2600"/>
              </a:lnSpc>
              <a:spcBef>
                <a:spcPts val="800"/>
              </a:spcBef>
              <a:defRPr sz="2000" b="0">
                <a:solidFill>
                  <a:srgbClr val="CBD5E1"/>
                </a:solidFill>
                <a:latin typeface="Calibri"/>
              </a:defRPr>
            </a:pPr>
            <a:r>
              <a:t>•  More tools = more overhead = more stress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554480"/>
            <a:ext cx="48463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8288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CBD5E1"/>
                </a:solidFill>
                <a:latin typeface="Calibri"/>
              </a:defRPr>
            </a:pPr>
            <a:r>
              <a:t>“ I downloaded 3 apps to be productive.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defRPr sz="2000" b="0">
                <a:solidFill>
                  <a:srgbClr val="CBD5E1"/>
                </a:solidFill>
                <a:latin typeface="Calibri"/>
              </a:defRPr>
            </a:pPr>
            <a:r>
              <a:t>  Now I spend 30 minutes a day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defRPr sz="2000" b="0">
                <a:solidFill>
                  <a:srgbClr val="CBD5E1"/>
                </a:solidFill>
                <a:latin typeface="Calibri"/>
              </a:defRPr>
            </a:pPr>
            <a:r>
              <a:t>  just organizing them. ”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860"/>
              </a:lnSpc>
              <a:spcBef>
                <a:spcPts val="1200"/>
              </a:spcBef>
              <a:defRPr sz="2200" b="1">
                <a:solidFill>
                  <a:srgbClr val="FBBF24"/>
                </a:solidFill>
                <a:latin typeface="Calibri"/>
              </a:defRPr>
            </a:pPr>
            <a:r>
              <a:t>The irony: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defRPr sz="2200" b="0">
                <a:solidFill>
                  <a:srgbClr val="FBBF24"/>
                </a:solidFill>
                <a:latin typeface="Calibri"/>
              </a:defRPr>
            </a:pPr>
            <a:r>
              <a:t>Productivity tools are making us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defRPr sz="2200" b="1">
                <a:solidFill>
                  <a:srgbClr val="FBBF24"/>
                </a:solidFill>
                <a:latin typeface="Calibri"/>
              </a:defRPr>
            </a:pPr>
            <a:r>
              <a:t>less productive.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Just dump it.</a:t>
            </a:r>
          </a:p>
          <a:p>
            <a:pPr algn="l">
              <a:lnSpc>
                <a:spcPts val="2600"/>
              </a:lnSpc>
              <a:spcBef>
                <a:spcPts val="400"/>
              </a:spcBef>
              <a:defRPr sz="2000" b="0">
                <a:solidFill>
                  <a:srgbClr val="94A3B8"/>
                </a:solidFill>
                <a:latin typeface="Calibri"/>
              </a:defRPr>
            </a:pPr>
            <a:r>
              <a:t>One input. That's all.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108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34D399"/>
                </a:solidFill>
                <a:latin typeface="Courier New"/>
              </a:defRPr>
            </a:pPr>
            <a:r>
              <a:t>“ Meeting with Sarah Friday 2pm,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34D399"/>
                </a:solidFill>
                <a:latin typeface="Courier New"/>
              </a:defRPr>
            </a:pPr>
            <a:r>
              <a:t>  need to buy groceries,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34D399"/>
                </a:solidFill>
                <a:latin typeface="Courier New"/>
              </a:defRPr>
            </a:pPr>
            <a:r>
              <a:t>  oh and I finished the report 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84632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AI automatically: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470"/>
              </a:lnSpc>
              <a:spcBef>
                <a:spcPts val="1200"/>
              </a:spcBef>
              <a:defRPr sz="1900" b="0">
                <a:solidFill>
                  <a:srgbClr val="34D399"/>
                </a:solidFill>
                <a:latin typeface="Calibri"/>
              </a:defRPr>
            </a:pPr>
            <a:r>
              <a:t>✓  Creates event: Sarah — Fri 2pm</a:t>
            </a:r>
          </a:p>
          <a:p>
            <a:pPr algn="l">
              <a:lnSpc>
                <a:spcPts val="2470"/>
              </a:lnSpc>
              <a:spcBef>
                <a:spcPts val="1200"/>
              </a:spcBef>
              <a:defRPr sz="1900" b="0">
                <a:solidFill>
                  <a:srgbClr val="34D399"/>
                </a:solidFill>
                <a:latin typeface="Calibri"/>
              </a:defRPr>
            </a:pPr>
            <a:r>
              <a:t>✓  Creates task: Buy groceries</a:t>
            </a:r>
          </a:p>
          <a:p>
            <a:pPr algn="l">
              <a:lnSpc>
                <a:spcPts val="2470"/>
              </a:lnSpc>
              <a:spcBef>
                <a:spcPts val="1200"/>
              </a:spcBef>
              <a:defRPr sz="1900" b="0">
                <a:solidFill>
                  <a:srgbClr val="34D399"/>
                </a:solidFill>
                <a:latin typeface="Calibri"/>
              </a:defRPr>
            </a:pPr>
            <a:r>
              <a:t>✓  Marks report as done!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40"/>
              </a:lnSpc>
              <a:spcBef>
                <a:spcPts val="1200"/>
              </a:spcBef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 categorizing. No date pickers.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94A3B8"/>
                </a:solidFill>
                <a:latin typeface="Calibri"/>
              </a:defRPr>
            </a:pPr>
            <a:r>
              <a:t>No switching between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OTTD — One Thing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Instead of 20 tasks, we recommend just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0116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9am Monday</a:t>
            </a:r>
            <a:br/>
            <a:r>
              <a:t>→ deep focus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560320"/>
            <a:ext cx="20116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Near grocery store</a:t>
            </a:r>
            <a:br/>
            <a:r>
              <a:t>→ buy groceries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560320"/>
            <a:ext cx="20116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Meeting in 30min</a:t>
            </a:r>
            <a:br/>
            <a:r>
              <a:t>→ pick something quick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560320"/>
            <a:ext cx="20116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4 hours straight</a:t>
            </a:r>
            <a:br/>
            <a:r>
              <a:t>→ take a break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2560320"/>
            <a:ext cx="20116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Mood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3931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Feeling stressed</a:t>
            </a:r>
            <a:br/>
            <a:r>
              <a:t>→ lighter task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You never feel overwhelmed. You always know what to do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Not Just Productive. Healthy.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CBD5E1"/>
                </a:solidFill>
                <a:latin typeface="Calibri"/>
              </a:defRPr>
            </a:pPr>
            <a:r>
              <a:t>CAMP doesn't just optimize output. It protects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2004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0">
                <a:solidFill>
                  <a:srgbClr val="34D399"/>
                </a:solidFill>
                <a:latin typeface="Calibri"/>
              </a:defRPr>
            </a:pPr>
            <a:r>
              <a:t>You've been going hard all morning.</a:t>
            </a:r>
            <a:br/>
            <a:r>
              <a:t>Take a break. Maybe grab a juice —</a:t>
            </a:r>
            <a:br/>
            <a:r>
              <a:t>got any at home?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743200"/>
            <a:ext cx="32004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661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0">
                <a:solidFill>
                  <a:srgbClr val="34D399"/>
                </a:solidFill>
                <a:latin typeface="Calibri"/>
              </a:defRPr>
            </a:pPr>
            <a:r>
              <a:t>It's 11pm. That task can wait.</a:t>
            </a:r>
            <a:br/>
            <a:r>
              <a:t>How about winding down with something light?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743200"/>
            <a:ext cx="32004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5661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0">
                <a:solidFill>
                  <a:srgbClr val="34D399"/>
                </a:solidFill>
                <a:latin typeface="Calibri"/>
              </a:defRPr>
            </a:pPr>
            <a:r>
              <a:t>Great job finishing 5 tasks today!</a:t>
            </a:r>
            <a:br/>
            <a:r>
              <a:t>You've done enough. Rest — tomorrow's light.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The AI has intent: your wellness comes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0515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☀️ Morning Rush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You dump:</a:t>
            </a:r>
            <a:br/>
            <a:r>
              <a:t>"dentist at 3, pick up package,</a:t>
            </a:r>
            <a:br/>
            <a:r>
              <a:t>finish slides, call mom"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10312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34D399"/>
                </a:solidFill>
                <a:latin typeface="Calibri"/>
              </a:defRPr>
            </a:pPr>
            <a:r>
              <a:t>CAMP creates 2 tasks + 1 event.</a:t>
            </a:r>
            <a:br/>
            <a:r>
              <a:t>Recommends: "Finish slides first —</a:t>
            </a:r>
            <a:br/>
            <a:r>
              <a:t>you have a clear block until noon."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39"/>
            <a:ext cx="10515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289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🌙 After-Hours Grind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7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It's 9pm.</a:t>
            </a:r>
            <a:br/>
            <a:r>
              <a:t>You've completed 6 tasks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840479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7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34D399"/>
                </a:solidFill>
                <a:latin typeface="Calibri"/>
              </a:defRPr>
            </a:pPr>
            <a:r>
              <a:t>CAMP says:</a:t>
            </a:r>
            <a:br/>
            <a:r>
              <a:t>"Great day! You've done enough.</a:t>
            </a:r>
            <a:br/>
            <a:r>
              <a:t>Rest — tomorrow's a light day."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029200"/>
            <a:ext cx="1051560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🚶 Walking Outside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GPS detects you're near</a:t>
            </a:r>
            <a:br/>
            <a:r>
              <a:t>downtown.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5778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577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600" b="0">
                <a:solidFill>
                  <a:srgbClr val="34D399"/>
                </a:solidFill>
                <a:latin typeface="Calibri"/>
              </a:defRPr>
            </a:pPr>
            <a:r>
              <a:t>CAMP nudges:</a:t>
            </a:r>
            <a:br/>
            <a:r>
              <a:t>"You're near the post office —</a:t>
            </a:r>
            <a:br/>
            <a:r>
              <a:t>pick up that package now?"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Vision: Context-Aware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50292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Phase 1 — Now</a:t>
            </a:r>
          </a:p>
          <a:p>
            <a:pPr algn="l">
              <a:lnSpc>
                <a:spcPts val="78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Time &amp; calendar awareness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Location context (GPS)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•  Task history &amp;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FBBF24"/>
                </a:solidFill>
                <a:latin typeface="Calibri"/>
              </a:defRPr>
            </a:pPr>
            <a:r>
              <a:t>Phase 2 — Wearables</a:t>
            </a:r>
          </a:p>
          <a:p>
            <a:pPr algn="l">
              <a:lnSpc>
                <a:spcPts val="780"/>
              </a:lnSpc>
              <a:spcBef>
                <a:spcPts val="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❤️  Heart rate → detect stress, suggest breaks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💤  Sleep quality → adjust task difficulty</a:t>
            </a:r>
          </a:p>
          <a:p>
            <a:pPr algn="l">
              <a:lnSpc>
                <a:spcPts val="2340"/>
              </a:lnSpc>
              <a:spcBef>
                <a:spcPts val="0"/>
              </a:spcBef>
              <a:defRPr sz="1800" b="0">
                <a:solidFill>
                  <a:srgbClr val="CBD5E1"/>
                </a:solidFill>
                <a:latin typeface="Calibri"/>
              </a:defRPr>
            </a:pPr>
            <a:r>
              <a:t>🏃  Activity level → match energy to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05156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CAMP becomes a personal chief of staff</a:t>
            </a:r>
          </a:p>
          <a:p>
            <a:pPr algn="ctr">
              <a:lnSpc>
                <a:spcPts val="3640"/>
              </a:lnSpc>
              <a:spcBef>
                <a:spcPts val="800"/>
              </a:spcBef>
              <a:defRPr sz="2800" b="1">
                <a:solidFill>
                  <a:srgbClr val="38BDF8"/>
                </a:solidFill>
                <a:latin typeface="Calibri"/>
              </a:defRPr>
            </a:pPr>
            <a:r>
              <a:t>who actually cares about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5603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text / voice / image</a:t>
            </a:r>
            <a:br/>
            <a:r>
              <a:t>just dump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645920"/>
            <a:ext cx="29260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34D399"/>
                </a:solidFill>
                <a:latin typeface="Calibri"/>
              </a:defRPr>
            </a:pPr>
            <a:r>
              <a:t>Gemini 2.0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Multimodal AI</a:t>
            </a:r>
            <a:br/>
            <a:r>
              <a:t>Function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45920"/>
            <a:ext cx="34747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Auto-Classification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40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task / event / record</a:t>
            </a:r>
            <a:br/>
            <a:r>
              <a:t>expense / habit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5029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Supabase (PostgreSQL)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Auth + RLS + Realtime + Storage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Row-Level Security per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5029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Inngest (Background Jobs)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Auto-proceed: 2min silence → AI acts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Daily summary cron at midnight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486400"/>
            <a:ext cx="5760720" cy="109728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5577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OTTD Recommendation Engine</a:t>
            </a:r>
          </a:p>
          <a:p>
            <a:pPr algn="ctr">
              <a:lnSpc>
                <a:spcPts val="2080"/>
              </a:lnSpc>
              <a:spcBef>
                <a:spcPts val="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Context scoring: time + location + energy + calendar → one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38BDF8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Next.js 16 (App Router) on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Gemini 2.0 Flash — multimodal, function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Supabase PostgreSQL + Realtime +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Inngest (delayed jobs, cron)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846320"/>
            <a:ext cx="2011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5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9377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Context scoring: time + location + 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554480"/>
            <a:ext cx="4297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Key AI Behaviors</a:t>
            </a:r>
          </a:p>
          <a:p>
            <a:pPr algn="l">
              <a:lnSpc>
                <a:spcPts val="104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10"/>
              </a:lnSpc>
              <a:spcBef>
                <a:spcPts val="8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▶  Classify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One dump → multiple structured items</a:t>
            </a:r>
          </a:p>
          <a:p>
            <a:pPr algn="l">
              <a:lnSpc>
                <a:spcPts val="104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10"/>
              </a:lnSpc>
              <a:spcBef>
                <a:spcPts val="8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▶  Respond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Conversational, 1-2 sentences, never overwhelming</a:t>
            </a:r>
          </a:p>
          <a:p>
            <a:pPr algn="l">
              <a:lnSpc>
                <a:spcPts val="104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10"/>
              </a:lnSpc>
              <a:spcBef>
                <a:spcPts val="8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▶  Nudge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Auto-proceed after 2min silence (server-side)</a:t>
            </a:r>
          </a:p>
          <a:p>
            <a:pPr algn="l">
              <a:lnSpc>
                <a:spcPts val="1040"/>
              </a:lnSpc>
              <a:spcBef>
                <a:spcPts val="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lnSpc>
                <a:spcPts val="2210"/>
              </a:lnSpc>
              <a:spcBef>
                <a:spcPts val="800"/>
              </a:spcBef>
              <a:defRPr sz="1700" b="1">
                <a:solidFill>
                  <a:srgbClr val="34D399"/>
                </a:solidFill>
                <a:latin typeface="Calibri"/>
              </a:defRPr>
            </a:pPr>
            <a:r>
              <a:t>▶  Heartbeat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Daily summary, proactive habit suggestions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0"/>
              </a:lnSpc>
              <a:spcAft>
                <a:spcPts val="0"/>
              </a:spcAft>
              <a:defRPr sz="8000" b="1">
                <a:solidFill>
                  <a:srgbClr val="38BDF8"/>
                </a:solidFill>
                <a:latin typeface="Calibri"/>
              </a:defRPr>
            </a:pPr>
            <a:r>
              <a:t>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Calm Productivity.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lnSpc>
                <a:spcPts val="3640"/>
              </a:lnSpc>
              <a:spcBef>
                <a:spcPts val="1200"/>
              </a:spcBef>
              <a:defRPr sz="2800" b="0">
                <a:solidFill>
                  <a:srgbClr val="94A3B8"/>
                </a:solidFill>
                <a:latin typeface="Calibri"/>
              </a:defRPr>
            </a:pPr>
            <a:r>
              <a:t>Stop managing tasks.</a:t>
            </a:r>
          </a:p>
          <a:p>
            <a:pPr algn="ctr">
              <a:lnSpc>
                <a:spcPts val="3640"/>
              </a:lnSpc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Start living.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38BDF8"/>
                </a:solidFill>
                <a:latin typeface="Calibri"/>
              </a:defRPr>
            </a:pPr>
            <a:r>
              <a:t>— Demo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